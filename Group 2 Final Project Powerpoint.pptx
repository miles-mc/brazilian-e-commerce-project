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ay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738F58-66A6-4DF5-ADC9-FFF1CB6BF4E7}">
  <a:tblStyle styleId="{B3738F58-66A6-4DF5-ADC9-FFF1CB6BF4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5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Welcome </a:t>
            </a: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/>
              <a:t>1. Introduction (Overall Picture)</a:t>
            </a:r>
            <a:endParaRPr sz="1600" b="1"/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/>
              <a:t>Goal:</a:t>
            </a:r>
            <a:r>
              <a:rPr lang="en-GB" sz="1100"/>
              <a:t> "This slide presents the results of the Olist Feedback Sentiment Analysis, classifying all customer reviews to give us a clear, data-driven look at customer mood and where we need to focus our efforts."</a:t>
            </a:r>
            <a:endParaRPr sz="1100"/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/>
              <a:t>Key Takeaway (Upfront):</a:t>
            </a:r>
            <a:r>
              <a:rPr lang="en-GB" sz="1100"/>
              <a:t> "While the overall customer mood is largely </a:t>
            </a:r>
            <a:r>
              <a:rPr lang="en-GB" sz="1100" b="1"/>
              <a:t>Positive (57.73%)</a:t>
            </a:r>
            <a:r>
              <a:rPr lang="en-GB" sz="1100"/>
              <a:t>, we have a significant, reliable, and actionable segment of </a:t>
            </a:r>
            <a:r>
              <a:rPr lang="en-GB" sz="1100" b="1"/>
              <a:t>Negative feedback (26.29%)</a:t>
            </a:r>
            <a:r>
              <a:rPr lang="en-GB" sz="1100"/>
              <a:t> that must be our immediate priority."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/>
              <a:t>2. Core Performance &amp; Loyalty Metrics</a:t>
            </a:r>
            <a:endParaRPr sz="1600" b="1"/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/>
              <a:t>NPS Proxy Score:</a:t>
            </a:r>
            <a:r>
              <a:rPr lang="en-GB" sz="1100"/>
              <a:t> "Our current Net Loyalty Score (or NPS Proxy) stands at </a:t>
            </a:r>
            <a:r>
              <a:rPr lang="en-GB" sz="1100" b="1"/>
              <a:t>31.44%</a:t>
            </a:r>
            <a:r>
              <a:rPr lang="en-GB" sz="1100"/>
              <a:t>. Our goal is to use this analysis to drive this score higher."</a:t>
            </a:r>
            <a:endParaRPr sz="1100"/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/>
              <a:t>Dissatisfaction Rate:</a:t>
            </a:r>
            <a:r>
              <a:rPr lang="en-GB" sz="1100"/>
              <a:t> "The data shows that roughly </a:t>
            </a:r>
            <a:r>
              <a:rPr lang="en-GB" sz="1100" b="1"/>
              <a:t>1 in every 4 reviews is Negative</a:t>
            </a:r>
            <a:r>
              <a:rPr lang="en-GB" sz="1100"/>
              <a:t>. This high volume indicates widespread pain points that, if fixed, will have a major impact."</a:t>
            </a:r>
            <a:endParaRPr sz="1100"/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/>
              <a:t>Urgency:</a:t>
            </a:r>
            <a:r>
              <a:rPr lang="en-GB" sz="1100"/>
              <a:t> "The message is clear: our highest focus must be on quickly and effectively addressing the </a:t>
            </a:r>
            <a:r>
              <a:rPr lang="en-GB" sz="1100" b="1"/>
              <a:t>Negative Segment</a:t>
            </a:r>
            <a:r>
              <a:rPr lang="en-GB" sz="1100"/>
              <a:t>."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/>
              <a:t>3. Sentiment Distribution &amp; Model Reliability</a:t>
            </a:r>
            <a:endParaRPr sz="1600" b="1"/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/>
              <a:t>Positive Segment:</a:t>
            </a:r>
            <a:r>
              <a:rPr lang="en-GB" sz="1100"/>
              <a:t> "The majority is positive, and our model is highly confident, with </a:t>
            </a:r>
            <a:r>
              <a:rPr lang="en-GB" sz="1100" b="1"/>
              <a:t>96.20% Positive Precision</a:t>
            </a:r>
            <a:r>
              <a:rPr lang="en-GB" sz="1100"/>
              <a:t>."</a:t>
            </a:r>
            <a:endParaRPr sz="1100"/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/>
              <a:t>Negative Segment (The Focus):</a:t>
            </a:r>
            <a:r>
              <a:rPr lang="en-GB" sz="1100"/>
              <a:t> "We've reliably identified </a:t>
            </a:r>
            <a:r>
              <a:rPr lang="en-GB" sz="1100" b="1"/>
              <a:t>26.29%</a:t>
            </a:r>
            <a:r>
              <a:rPr lang="en-GB" sz="1100"/>
              <a:t> of reviews as negative. Crucially, our model has an </a:t>
            </a:r>
            <a:r>
              <a:rPr lang="en-GB" sz="1100" b="1"/>
              <a:t>84.75% Negative Precision</a:t>
            </a:r>
            <a:r>
              <a:rPr lang="en-GB" sz="1100"/>
              <a:t>, meaning this is a highly reliable signal of real customer pain."</a:t>
            </a:r>
            <a:endParaRPr sz="1100"/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/>
              <a:t>Neutral Segment (The Ambiguity):</a:t>
            </a:r>
            <a:r>
              <a:rPr lang="en-GB" sz="1100"/>
              <a:t> "The </a:t>
            </a:r>
            <a:r>
              <a:rPr lang="en-GB" sz="1100" b="1"/>
              <a:t>15.99% Neutral</a:t>
            </a:r>
            <a:r>
              <a:rPr lang="en-GB" sz="1100"/>
              <a:t> segment is our wildcard. Note the low </a:t>
            </a:r>
            <a:r>
              <a:rPr lang="en-GB" sz="1100" b="1"/>
              <a:t>Neutral Precision of 35.50%</a:t>
            </a:r>
            <a:r>
              <a:rPr lang="en-GB" sz="1100"/>
              <a:t>. This segment is highly ambiguous, and we should not ignore it."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/>
              <a:t>4. Key Insights &amp; Next Steps (The Action Plan)</a:t>
            </a:r>
            <a:endParaRPr sz="1600" b="1"/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/>
              <a:t>The Opportunity:</a:t>
            </a:r>
            <a:r>
              <a:rPr lang="en-GB" sz="1100"/>
              <a:t> "The high volume of reliably-identified negative feedback is our single largest, clearest, andmost immediate opportunity to boost customer satisfaction and loyalty. We know </a:t>
            </a:r>
            <a:r>
              <a:rPr lang="en-GB" sz="1100" i="1"/>
              <a:t>what</a:t>
            </a:r>
            <a:r>
              <a:rPr lang="en-GB" sz="1100"/>
              <a:t> to fix."</a:t>
            </a:r>
            <a:endParaRPr sz="1100"/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/>
              <a:t>Targeted Investigation:</a:t>
            </a:r>
            <a:r>
              <a:rPr lang="en-GB" sz="1100"/>
              <a:t> "We cannot afford a broad investigation. The data points us to filter these negative reviews and immediately focus our resources on two key areas: </a:t>
            </a:r>
            <a:r>
              <a:rPr lang="en-GB" sz="1100" b="1"/>
              <a:t>Shipping Time</a:t>
            </a:r>
            <a:r>
              <a:rPr lang="en-GB" sz="1100"/>
              <a:t> and </a:t>
            </a:r>
            <a:r>
              <a:rPr lang="en-GB" sz="1100" b="1"/>
              <a:t>Product Category</a:t>
            </a:r>
            <a:r>
              <a:rPr lang="en-GB" sz="1100"/>
              <a:t> issues."</a:t>
            </a:r>
            <a:endParaRPr sz="1100"/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/>
              <a:t>Addressing Ambiguity:</a:t>
            </a:r>
            <a:r>
              <a:rPr lang="en-GB" sz="1100"/>
              <a:t> "To fully understand our customer base, we need to resolve the </a:t>
            </a:r>
            <a:r>
              <a:rPr lang="en-GB" sz="1100" b="1"/>
              <a:t>Neutral ambiguity</a:t>
            </a:r>
            <a:r>
              <a:rPr lang="en-GB" sz="1100"/>
              <a:t>. We recommend a </a:t>
            </a:r>
            <a:r>
              <a:rPr lang="en-GB" sz="1100" b="1"/>
              <a:t>limited, manual review</a:t>
            </a:r>
            <a:r>
              <a:rPr lang="en-GB" sz="1100"/>
              <a:t> of those 3-star reviews to ensure we aren't misclassifying detractors as neutral."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/>
              <a:t>Closing Statement:</a:t>
            </a:r>
            <a:r>
              <a:rPr lang="en-GB" sz="1100"/>
              <a:t> "In summary, the next step is clear: we must act immediately on the high-precision negative signals to target Shipping Time and Product Category issues, which will be the fastest route to improving our Net Loyalty Score."</a:t>
            </a: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f370ea50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f370ea507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3af370ea507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f370ea5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f370ea50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af370ea50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f370ea507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f370ea507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af370ea507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f370ea507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f370ea507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f370ea507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f370ea50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f370ea507_4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af370ea507_4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86670"/>
          </a:scheme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D1D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8666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6179441" y="0"/>
            <a:ext cx="5365500" cy="30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GB" sz="4400">
                <a:solidFill>
                  <a:srgbClr val="A64D79"/>
                </a:solidFill>
              </a:rPr>
              <a:t>Olist Store: Customer Experience, Sales &amp; Delivery Performance Analysis</a:t>
            </a:r>
            <a:endParaRPr>
              <a:solidFill>
                <a:srgbClr val="A64D79"/>
              </a:solidFill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800">
                <a:solidFill>
                  <a:srgbClr val="A64D79"/>
                </a:solidFill>
                <a:latin typeface="Play"/>
                <a:ea typeface="Play"/>
                <a:cs typeface="Play"/>
                <a:sym typeface="Play"/>
              </a:rPr>
              <a:t>Our Team</a:t>
            </a:r>
            <a:endParaRPr sz="2800">
              <a:solidFill>
                <a:srgbClr val="A64D79"/>
              </a:solidFill>
              <a:latin typeface="Play"/>
              <a:ea typeface="Play"/>
              <a:cs typeface="Play"/>
              <a:sym typeface="Play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>
                <a:solidFill>
                  <a:srgbClr val="741B47"/>
                </a:solidFill>
                <a:latin typeface="Play"/>
                <a:ea typeface="Play"/>
                <a:cs typeface="Play"/>
                <a:sym typeface="Play"/>
              </a:rPr>
              <a:t>Miles</a:t>
            </a:r>
            <a:endParaRPr>
              <a:solidFill>
                <a:srgbClr val="741B47"/>
              </a:solidFill>
              <a:latin typeface="Play"/>
              <a:ea typeface="Play"/>
              <a:cs typeface="Play"/>
              <a:sym typeface="Play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>
                <a:solidFill>
                  <a:srgbClr val="741B47"/>
                </a:solidFill>
                <a:latin typeface="Play"/>
                <a:ea typeface="Play"/>
                <a:cs typeface="Play"/>
                <a:sym typeface="Play"/>
              </a:rPr>
              <a:t>Keerit</a:t>
            </a:r>
            <a:endParaRPr>
              <a:solidFill>
                <a:srgbClr val="741B47"/>
              </a:solidFill>
              <a:latin typeface="Play"/>
              <a:ea typeface="Play"/>
              <a:cs typeface="Play"/>
              <a:sym typeface="Play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>
                <a:solidFill>
                  <a:srgbClr val="741B47"/>
                </a:solidFill>
                <a:latin typeface="Play"/>
                <a:ea typeface="Play"/>
                <a:cs typeface="Play"/>
                <a:sym typeface="Play"/>
              </a:rPr>
              <a:t>Chandrika</a:t>
            </a:r>
            <a:endParaRPr>
              <a:solidFill>
                <a:srgbClr val="741B47"/>
              </a:solidFill>
              <a:latin typeface="Play"/>
              <a:ea typeface="Play"/>
              <a:cs typeface="Play"/>
              <a:sym typeface="Play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>
                <a:solidFill>
                  <a:srgbClr val="741B47"/>
                </a:solidFill>
                <a:latin typeface="Play"/>
                <a:ea typeface="Play"/>
                <a:cs typeface="Play"/>
                <a:sym typeface="Play"/>
              </a:rPr>
              <a:t>Danai</a:t>
            </a:r>
            <a:endParaRPr>
              <a:solidFill>
                <a:srgbClr val="741B47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1" name="Google Shape;91;p13"/>
          <p:cNvSpPr/>
          <p:nvPr/>
        </p:nvSpPr>
        <p:spPr>
          <a:xfrm flipH="1">
            <a:off x="530529" y="1"/>
            <a:ext cx="1155142" cy="591009"/>
          </a:xfrm>
          <a:custGeom>
            <a:avLst/>
            <a:gdLst/>
            <a:ahLst/>
            <a:cxnLst/>
            <a:rect l="l" t="t" r="r" b="b"/>
            <a:pathLst>
              <a:path w="1155142" h="591009" extrusionOk="0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/>
          <p:nvPr/>
        </p:nvSpPr>
        <p:spPr>
          <a:xfrm flipH="1">
            <a:off x="4349052" y="0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rgbClr val="8E7C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/>
          <p:nvPr/>
        </p:nvSpPr>
        <p:spPr>
          <a:xfrm flipH="1">
            <a:off x="0" y="2916245"/>
            <a:ext cx="159741" cy="552996"/>
          </a:xfrm>
          <a:custGeom>
            <a:avLst/>
            <a:gdLst/>
            <a:ahLst/>
            <a:cxnLst/>
            <a:rect l="l" t="t" r="r" b="b"/>
            <a:pathLst>
              <a:path w="159741" h="552996" extrusionOk="0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rgbClr val="C27B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/>
          <p:nvPr/>
        </p:nvSpPr>
        <p:spPr>
          <a:xfrm flipH="1">
            <a:off x="0" y="5835649"/>
            <a:ext cx="1548180" cy="1022351"/>
          </a:xfrm>
          <a:custGeom>
            <a:avLst/>
            <a:gdLst/>
            <a:ahLst/>
            <a:cxnLst/>
            <a:rect l="l" t="t" r="r" b="b"/>
            <a:pathLst>
              <a:path w="1548180" h="1022351" extrusionOk="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rgbClr val="99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 flipH="1">
            <a:off x="3697761" y="5717906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 extrusionOk="0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rgbClr val="C27B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3">
            <a:alphaModFix/>
          </a:blip>
          <a:srcRect r="3" b="3"/>
          <a:stretch/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 extrusionOk="0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97" name="Google Shape;97;p13"/>
          <p:cNvSpPr/>
          <p:nvPr/>
        </p:nvSpPr>
        <p:spPr>
          <a:xfrm flipH="1">
            <a:off x="4520513" y="6258756"/>
            <a:ext cx="1565940" cy="599245"/>
          </a:xfrm>
          <a:custGeom>
            <a:avLst/>
            <a:gdLst/>
            <a:ahLst/>
            <a:cxnLst/>
            <a:rect l="l" t="t" r="r" b="b"/>
            <a:pathLst>
              <a:path w="1565940" h="599245" extrusionOk="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D1DC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>
              <a:alpha val="8666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1" y="0"/>
            <a:ext cx="4167271" cy="6858000"/>
          </a:xfrm>
          <a:custGeom>
            <a:avLst/>
            <a:gdLst/>
            <a:ahLst/>
            <a:cxnLst/>
            <a:rect l="l" t="t" r="r" b="b"/>
            <a:pathLst>
              <a:path w="4167271" h="6858000" extrusionOk="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27B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 txBox="1"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lang="en-GB">
                <a:solidFill>
                  <a:srgbClr val="FFFFFF"/>
                </a:solidFill>
              </a:rPr>
              <a:t>Purpose of Olist Store Process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-152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latin typeface="Arial"/>
                <a:ea typeface="Arial"/>
                <a:cs typeface="Arial"/>
                <a:sym typeface="Arial"/>
              </a:rPr>
              <a:t>Customer purchases a product from Olist Store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-1524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latin typeface="Arial"/>
                <a:ea typeface="Arial"/>
                <a:cs typeface="Arial"/>
                <a:sym typeface="Arial"/>
              </a:rPr>
              <a:t>Seller is notified to fulfil the order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-1524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latin typeface="Arial"/>
                <a:ea typeface="Arial"/>
                <a:cs typeface="Arial"/>
                <a:sym typeface="Arial"/>
              </a:rPr>
              <a:t>Product is delivered (or delivery date is reached)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-1524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latin typeface="Arial"/>
                <a:ea typeface="Arial"/>
                <a:cs typeface="Arial"/>
                <a:sym typeface="Arial"/>
              </a:rPr>
              <a:t>Customer receives a satisfaction survey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-1524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latin typeface="Arial"/>
                <a:ea typeface="Arial"/>
                <a:cs typeface="Arial"/>
                <a:sym typeface="Arial"/>
              </a:rPr>
              <a:t>Customer may leave a score and comments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 b="1">
                <a:latin typeface="Arial"/>
                <a:ea typeface="Arial"/>
                <a:cs typeface="Arial"/>
                <a:sym typeface="Arial"/>
              </a:rPr>
              <a:t>Key question: </a:t>
            </a:r>
            <a:r>
              <a:rPr lang="en-GB" sz="2400" b="1"/>
              <a:t>How do delivery performance and customer feedback relate to customer satisfaction and future sales?</a:t>
            </a:r>
            <a:endParaRPr sz="2400" b="1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13" name="Google Shape;113;p15" descr="A close-up of a graph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2287"/>
            <a:ext cx="12192000" cy="6539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4186800" y="81175"/>
            <a:ext cx="3818400" cy="120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>
                <a:solidFill>
                  <a:srgbClr val="C27BA0"/>
                </a:solidFill>
              </a:rPr>
              <a:t>Review Types</a:t>
            </a:r>
            <a:endParaRPr sz="3800">
              <a:solidFill>
                <a:srgbClr val="C27BA0"/>
              </a:solidFill>
            </a:endParaRPr>
          </a:p>
        </p:txBody>
      </p:sp>
      <p:pic>
        <p:nvPicPr>
          <p:cNvPr id="120" name="Google Shape;12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250" y="1612750"/>
            <a:ext cx="7607680" cy="486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8689800" y="1839150"/>
            <a:ext cx="3039600" cy="37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800"/>
              <a:buChar char="●"/>
            </a:pPr>
            <a:r>
              <a:rPr lang="en-GB" sz="1800">
                <a:solidFill>
                  <a:srgbClr val="A64D79"/>
                </a:solidFill>
              </a:rPr>
              <a:t>Happy customers and customers with complaints leave the most reviews</a:t>
            </a:r>
            <a:endParaRPr sz="1800">
              <a:solidFill>
                <a:srgbClr val="A64D79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A64D79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800"/>
              <a:buChar char="●"/>
            </a:pPr>
            <a:r>
              <a:rPr lang="en-GB" sz="1800">
                <a:solidFill>
                  <a:srgbClr val="A64D79"/>
                </a:solidFill>
              </a:rPr>
              <a:t>Customers are much more likely to leave a star review than text</a:t>
            </a:r>
            <a:endParaRPr sz="1800">
              <a:solidFill>
                <a:srgbClr val="A64D79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A64D79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800"/>
              <a:buChar char="●"/>
            </a:pPr>
            <a:r>
              <a:rPr lang="en-GB" sz="1800">
                <a:solidFill>
                  <a:srgbClr val="A64D79"/>
                </a:solidFill>
              </a:rPr>
              <a:t>Consider offering </a:t>
            </a:r>
            <a:endParaRPr sz="1800">
              <a:solidFill>
                <a:srgbClr val="A64D79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64D79"/>
                </a:solidFill>
              </a:rPr>
              <a:t>vouchers or special promotions to those who leave text reviews</a:t>
            </a:r>
            <a:endParaRPr sz="1800">
              <a:solidFill>
                <a:srgbClr val="A64D7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275" y="1756425"/>
            <a:ext cx="6645075" cy="38179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4090350" y="299625"/>
            <a:ext cx="4011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>
                <a:solidFill>
                  <a:srgbClr val="C27BA0"/>
                </a:solidFill>
                <a:latin typeface="Play"/>
                <a:ea typeface="Play"/>
                <a:cs typeface="Play"/>
                <a:sym typeface="Play"/>
              </a:rPr>
              <a:t>Negative Reviews</a:t>
            </a:r>
            <a:endParaRPr sz="3800">
              <a:solidFill>
                <a:srgbClr val="C27BA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8166075" y="1820763"/>
            <a:ext cx="3039600" cy="2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800"/>
              <a:buChar char="●"/>
            </a:pPr>
            <a:r>
              <a:rPr lang="en-GB" sz="1800" dirty="0">
                <a:solidFill>
                  <a:srgbClr val="A64D79"/>
                </a:solidFill>
              </a:rPr>
              <a:t>Words like received, delay and arrived appear most often</a:t>
            </a:r>
            <a:br>
              <a:rPr lang="en-GB" sz="1800" dirty="0">
                <a:solidFill>
                  <a:srgbClr val="A64D79"/>
                </a:solidFill>
              </a:rPr>
            </a:br>
            <a:endParaRPr sz="1800" dirty="0">
              <a:solidFill>
                <a:srgbClr val="A64D79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800"/>
              <a:buChar char="●"/>
            </a:pPr>
            <a:r>
              <a:rPr lang="en-GB" sz="1800" dirty="0">
                <a:solidFill>
                  <a:srgbClr val="A64D79"/>
                </a:solidFill>
              </a:rPr>
              <a:t>Our analysis would suggest issues with customers receiving the wrong product</a:t>
            </a:r>
            <a:endParaRPr sz="1800" dirty="0">
              <a:solidFill>
                <a:srgbClr val="A64D79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A64D79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800"/>
              <a:buChar char="●"/>
            </a:pPr>
            <a:r>
              <a:rPr lang="en-GB" sz="1800" dirty="0">
                <a:solidFill>
                  <a:srgbClr val="A64D79"/>
                </a:solidFill>
              </a:rPr>
              <a:t>Would like to bring you more detail on delivery location but we would need more time</a:t>
            </a:r>
            <a:endParaRPr sz="1800" dirty="0">
              <a:solidFill>
                <a:srgbClr val="A64D7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/>
        </p:nvSpPr>
        <p:spPr>
          <a:xfrm>
            <a:off x="4119750" y="269975"/>
            <a:ext cx="39525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>
                <a:solidFill>
                  <a:srgbClr val="C27BA0"/>
                </a:solidFill>
                <a:latin typeface="Play"/>
                <a:ea typeface="Play"/>
                <a:cs typeface="Play"/>
                <a:sym typeface="Play"/>
              </a:rPr>
              <a:t>Positive Reviews</a:t>
            </a:r>
            <a:endParaRPr sz="3800">
              <a:solidFill>
                <a:srgbClr val="C27BA0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36" name="Google Shape;13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124" y="1732750"/>
            <a:ext cx="7819300" cy="363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8159825" y="2251463"/>
            <a:ext cx="3039600" cy="2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800"/>
              <a:buChar char="●"/>
            </a:pPr>
            <a:r>
              <a:rPr lang="en-GB" sz="1800">
                <a:solidFill>
                  <a:srgbClr val="A64D79"/>
                </a:solidFill>
              </a:rPr>
              <a:t>Words like recommend, excellent and good are most frequent</a:t>
            </a:r>
            <a:endParaRPr sz="1800">
              <a:solidFill>
                <a:srgbClr val="A64D79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A64D79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800"/>
              <a:buChar char="●"/>
            </a:pPr>
            <a:r>
              <a:rPr lang="en-GB" sz="1800">
                <a:solidFill>
                  <a:srgbClr val="A64D79"/>
                </a:solidFill>
              </a:rPr>
              <a:t>Customers who are happy tend to leave more verbose reviews</a:t>
            </a:r>
            <a:endParaRPr sz="1800">
              <a:solidFill>
                <a:srgbClr val="A64D7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>
            <a:spLocks noGrp="1"/>
          </p:cNvSpPr>
          <p:nvPr>
            <p:ph type="title"/>
          </p:nvPr>
        </p:nvSpPr>
        <p:spPr>
          <a:xfrm>
            <a:off x="3330175" y="111750"/>
            <a:ext cx="6636600" cy="1286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>
                <a:solidFill>
                  <a:srgbClr val="C27BA0"/>
                </a:solidFill>
              </a:rPr>
              <a:t>Most Reviewed Products</a:t>
            </a:r>
            <a:endParaRPr sz="3800">
              <a:solidFill>
                <a:srgbClr val="C27BA0"/>
              </a:solidFill>
            </a:endParaRPr>
          </a:p>
        </p:txBody>
      </p:sp>
      <p:pic>
        <p:nvPicPr>
          <p:cNvPr id="144" name="Google Shape;14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3225"/>
            <a:ext cx="8468376" cy="454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8440125" y="2245238"/>
            <a:ext cx="3039600" cy="2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800"/>
              <a:buChar char="●"/>
            </a:pPr>
            <a:r>
              <a:rPr lang="en-GB" sz="1800">
                <a:solidFill>
                  <a:srgbClr val="A64D79"/>
                </a:solidFill>
              </a:rPr>
              <a:t>Customers who purchased from the top 5 product categories left only positive or neutral text reviews. </a:t>
            </a:r>
            <a:endParaRPr sz="1800">
              <a:solidFill>
                <a:srgbClr val="A64D79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A64D79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800"/>
              <a:buChar char="●"/>
            </a:pPr>
            <a:r>
              <a:rPr lang="en-GB" sz="1800">
                <a:solidFill>
                  <a:srgbClr val="A64D79"/>
                </a:solidFill>
              </a:rPr>
              <a:t>Further reinforces the idea that happy customers leave the most reviews </a:t>
            </a:r>
            <a:endParaRPr sz="1800">
              <a:solidFill>
                <a:srgbClr val="A64D7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>
            <a:spLocks noGrp="1"/>
          </p:cNvSpPr>
          <p:nvPr>
            <p:ph type="title"/>
          </p:nvPr>
        </p:nvSpPr>
        <p:spPr>
          <a:xfrm>
            <a:off x="400720" y="276750"/>
            <a:ext cx="1064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6CCC"/>
              </a:buClr>
              <a:buSzPts val="3600"/>
              <a:buFont typeface="Play"/>
              <a:buNone/>
            </a:pPr>
            <a:r>
              <a:rPr lang="en-GB" sz="3600">
                <a:solidFill>
                  <a:srgbClr val="D86CCC"/>
                </a:solidFill>
                <a:latin typeface="Arial"/>
                <a:ea typeface="Arial"/>
                <a:cs typeface="Arial"/>
                <a:sym typeface="Arial"/>
              </a:rPr>
              <a:t>Sales Forecast &amp; Action Plan</a:t>
            </a:r>
            <a:br>
              <a:rPr lang="en-GB">
                <a:latin typeface="Arial"/>
                <a:ea typeface="Arial"/>
                <a:cs typeface="Arial"/>
                <a:sym typeface="Arial"/>
              </a:rPr>
            </a:br>
            <a:r>
              <a:rPr lang="en-GB" sz="24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Predicting the Next Six Months of Sales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0"/>
          <p:cNvSpPr txBox="1">
            <a:spLocks noGrp="1"/>
          </p:cNvSpPr>
          <p:nvPr>
            <p:ph type="body" idx="1"/>
          </p:nvPr>
        </p:nvSpPr>
        <p:spPr>
          <a:xfrm>
            <a:off x="534300" y="1216925"/>
            <a:ext cx="11123400" cy="48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graphicFrame>
        <p:nvGraphicFramePr>
          <p:cNvPr id="152" name="Google Shape;152;p20"/>
          <p:cNvGraphicFramePr/>
          <p:nvPr/>
        </p:nvGraphicFramePr>
        <p:xfrm>
          <a:off x="534295" y="1407530"/>
          <a:ext cx="10722425" cy="5115950"/>
        </p:xfrm>
        <a:graphic>
          <a:graphicData uri="http://schemas.openxmlformats.org/drawingml/2006/table">
            <a:tbl>
              <a:tblPr>
                <a:noFill/>
                <a:tableStyleId>{B3738F58-66A6-4DF5-ADC9-FFF1CB6BF4E7}</a:tableStyleId>
              </a:tblPr>
              <a:tblGrid>
                <a:gridCol w="1072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73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2800"/>
                        <a:buFont typeface="Arial"/>
                        <a:buNone/>
                      </a:pPr>
                      <a:r>
                        <a:rPr lang="en-GB" sz="2800">
                          <a:solidFill>
                            <a:schemeClr val="accent5"/>
                          </a:solidFill>
                        </a:rPr>
                        <a:t>Research Question:</a:t>
                      </a:r>
                      <a:endParaRPr sz="2400" b="1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1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GB" sz="2400" b="1" u="none" strike="noStrike" cap="none"/>
                        <a:t>Future Sales Trend:</a:t>
                      </a:r>
                      <a:r>
                        <a:rPr lang="en-GB" sz="2400" u="none" strike="noStrike" cap="none"/>
                        <a:t> How much are sales predicted to change over the next six months (Sept 2018 to Feb 2019)?</a:t>
                      </a:r>
                      <a:endParaRPr sz="2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GB" sz="2400" b="1" u="none" strike="noStrike" cap="none"/>
                        <a:t>Performance Drivers:</a:t>
                      </a:r>
                      <a:r>
                        <a:rPr lang="en-GB" sz="2400" u="none" strike="noStrike" cap="none"/>
                        <a:t> Which </a:t>
                      </a:r>
                      <a:r>
                        <a:rPr lang="en-GB" sz="2400" b="1" u="none" strike="noStrike" cap="none"/>
                        <a:t>product categories</a:t>
                      </a:r>
                      <a:r>
                        <a:rPr lang="en-GB" sz="2400" u="none" strike="noStrike" cap="none"/>
                        <a:t> are causing our total sales to go up or down?</a:t>
                      </a:r>
                      <a:endParaRPr sz="2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>
            <a:spLocks noGrp="1"/>
          </p:cNvSpPr>
          <p:nvPr>
            <p:ph type="title"/>
          </p:nvPr>
        </p:nvSpPr>
        <p:spPr>
          <a:xfrm>
            <a:off x="408446" y="42350"/>
            <a:ext cx="10418592" cy="87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6CCC"/>
              </a:buClr>
              <a:buSzPts val="3600"/>
              <a:buFont typeface="Play"/>
              <a:buNone/>
            </a:pPr>
            <a:r>
              <a:rPr lang="en-GB" sz="3600">
                <a:solidFill>
                  <a:srgbClr val="D86CCC"/>
                </a:solidFill>
              </a:rPr>
              <a:t>Visuals from Report &amp; Key Results</a:t>
            </a:r>
            <a:endParaRPr/>
          </a:p>
        </p:txBody>
      </p:sp>
      <p:pic>
        <p:nvPicPr>
          <p:cNvPr id="158" name="Google Shape;158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86865" y="1387409"/>
            <a:ext cx="1430591" cy="2206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7834" y="1437643"/>
            <a:ext cx="1629258" cy="1682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505" y="3788206"/>
            <a:ext cx="5987495" cy="2704669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F2CDED"/>
            </a:outerShdw>
          </a:effectLst>
        </p:spPr>
      </p:pic>
      <p:pic>
        <p:nvPicPr>
          <p:cNvPr id="161" name="Google Shape;161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36490" y="926501"/>
            <a:ext cx="6429735" cy="2704669"/>
          </a:xfrm>
          <a:prstGeom prst="rect">
            <a:avLst/>
          </a:prstGeom>
          <a:solidFill>
            <a:srgbClr val="F2CDED"/>
          </a:solidFill>
          <a:ln>
            <a:noFill/>
          </a:ln>
          <a:effectLst>
            <a:outerShdw blurRad="50800" dist="50800" dir="5400000" algn="ctr" rotWithShape="0">
              <a:srgbClr val="F2CDED"/>
            </a:outerShdw>
          </a:effectLst>
        </p:spPr>
      </p:pic>
      <p:sp>
        <p:nvSpPr>
          <p:cNvPr id="162" name="Google Shape;162;p21"/>
          <p:cNvSpPr txBox="1"/>
          <p:nvPr/>
        </p:nvSpPr>
        <p:spPr>
          <a:xfrm>
            <a:off x="6366019" y="3788206"/>
            <a:ext cx="5040086" cy="3847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most critical result is the 29% decline in sales performance. This figure is the exact mathematical measure of the severe change in sales rate.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line graph is the proof. It shows a stable historical period immediately  followed by a </a:t>
            </a:r>
            <a:r>
              <a:rPr lang="en-GB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sharp drop in the future sales trend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This visual drop is what the -29% shows.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bar chart confirms the decline which is caused by the failure of </a:t>
            </a:r>
            <a:r>
              <a:rPr lang="en-GB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specific product categories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housewares, auto, and cool stuffs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/>
          </p:nvPr>
        </p:nvSpPr>
        <p:spPr>
          <a:xfrm>
            <a:off x="51162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6CCC"/>
              </a:buClr>
              <a:buSzPts val="3600"/>
              <a:buFont typeface="Play"/>
              <a:buNone/>
            </a:pPr>
            <a:r>
              <a:rPr lang="en-GB" sz="3600">
                <a:solidFill>
                  <a:srgbClr val="D86CCC"/>
                </a:solidFill>
              </a:rPr>
              <a:t>Strategic Action Plan</a:t>
            </a:r>
            <a:endParaRPr/>
          </a:p>
        </p:txBody>
      </p:sp>
      <p:graphicFrame>
        <p:nvGraphicFramePr>
          <p:cNvPr id="168" name="Google Shape;168;p22"/>
          <p:cNvGraphicFramePr/>
          <p:nvPr/>
        </p:nvGraphicFramePr>
        <p:xfrm>
          <a:off x="740229" y="1690688"/>
          <a:ext cx="10613575" cy="3499350"/>
        </p:xfrm>
        <a:graphic>
          <a:graphicData uri="http://schemas.openxmlformats.org/drawingml/2006/table">
            <a:tbl>
              <a:tblPr>
                <a:noFill/>
                <a:tableStyleId>{B3738F58-66A6-4DF5-ADC9-FFF1CB6BF4E7}</a:tableStyleId>
              </a:tblPr>
              <a:tblGrid>
                <a:gridCol w="5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9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2000" b="1" u="none" strike="noStrike" cap="none">
                          <a:solidFill>
                            <a:schemeClr val="accent5"/>
                          </a:solidFill>
                        </a:rPr>
                        <a:t>Action 1: Investment Priority</a:t>
                      </a:r>
                      <a:endParaRPr sz="2000" u="none" strike="noStrike" cap="none">
                        <a:solidFill>
                          <a:schemeClr val="accent5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strike="noStrike" cap="none"/>
                        <a:t>We must immediately </a:t>
                      </a:r>
                      <a:r>
                        <a:rPr lang="en-GB" sz="1800" b="1" u="none" strike="noStrike" cap="none"/>
                        <a:t>invest more money</a:t>
                      </a:r>
                      <a:r>
                        <a:rPr lang="en-GB" sz="1800" u="none" strike="noStrike" cap="none"/>
                        <a:t> in the </a:t>
                      </a:r>
                      <a:r>
                        <a:rPr lang="en-GB" sz="1800" b="1" u="none" strike="noStrike" cap="none"/>
                        <a:t>computers accessories</a:t>
                      </a:r>
                      <a:r>
                        <a:rPr lang="en-GB" sz="1800" u="none" strike="noStrike" cap="none"/>
                        <a:t> group. This is the only segment strong enough to maximize revenue and offset the predicted losses.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9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2000" b="1" u="none" strike="noStrike" cap="none">
                          <a:solidFill>
                            <a:schemeClr val="accent5"/>
                          </a:solidFill>
                        </a:rPr>
                        <a:t>Action 2: Fix the Problem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strike="noStrike" cap="none"/>
                        <a:t>We need to start an </a:t>
                      </a:r>
                      <a:r>
                        <a:rPr lang="en-GB" sz="1800" b="1" u="none" strike="noStrike" cap="none"/>
                        <a:t>urgent investigation</a:t>
                      </a:r>
                      <a:r>
                        <a:rPr lang="en-GB" sz="1800" u="none" strike="noStrike" cap="none"/>
                        <a:t> into the failing groups (</a:t>
                      </a:r>
                      <a:r>
                        <a:rPr lang="en-GB" sz="1800" b="1" u="none" strike="noStrike" cap="none"/>
                        <a:t>housewares, auto, and cool stuffs</a:t>
                      </a:r>
                      <a:r>
                        <a:rPr lang="en-GB" sz="1800" u="none" strike="noStrike" cap="none"/>
                        <a:t>). We must quickly decide if we can fix them or if we need to </a:t>
                      </a:r>
                      <a:r>
                        <a:rPr lang="en-GB" sz="1800" b="1" u="none" strike="noStrike" cap="none"/>
                        <a:t>stop selling them completely</a:t>
                      </a:r>
                      <a:r>
                        <a:rPr lang="en-GB" sz="1800" u="none" strike="noStrike" cap="none"/>
                        <a:t> to protect profits.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75" name="Google Shape;175;p23" descr="A screenshot of a data analysi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"/>
            <a:ext cx="12192000" cy="6393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 title="Screenshot 2025-12-10 0951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200" y="0"/>
            <a:ext cx="5114450" cy="55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86CCC"/>
                </a:solidFill>
              </a:rPr>
              <a:t>In Summary</a:t>
            </a:r>
            <a:endParaRPr>
              <a:solidFill>
                <a:srgbClr val="D86CCC"/>
              </a:solidFill>
            </a:endParaRPr>
          </a:p>
        </p:txBody>
      </p:sp>
      <p:sp>
        <p:nvSpPr>
          <p:cNvPr id="183" name="Google Shape;18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Play"/>
                <a:ea typeface="Play"/>
                <a:cs typeface="Play"/>
                <a:sym typeface="Play"/>
              </a:rPr>
              <a:t>Delivery performance is strong and reliable, with most delays occurring during peak demand periods, indicating that targeted peak-season planning and focused interventions on isolated late deliveries will deliver the greatest improvement.</a:t>
            </a:r>
            <a:br>
              <a:rPr lang="en-GB" sz="1500">
                <a:latin typeface="Play"/>
                <a:ea typeface="Play"/>
                <a:cs typeface="Play"/>
                <a:sym typeface="Play"/>
              </a:rPr>
            </a:br>
            <a:endParaRPr sz="1500">
              <a:latin typeface="Play"/>
              <a:ea typeface="Play"/>
              <a:cs typeface="Play"/>
              <a:sym typeface="Play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Play"/>
                <a:ea typeface="Play"/>
                <a:cs typeface="Play"/>
                <a:sym typeface="Play"/>
              </a:rPr>
              <a:t>Customer feedback depth is limited; incentivising customers to leave written reviews through vouchers or special offers would improve insight quality and sentiment analysis accuracy.</a:t>
            </a:r>
            <a:br>
              <a:rPr lang="en-GB" sz="1500">
                <a:latin typeface="Play"/>
                <a:ea typeface="Play"/>
                <a:cs typeface="Play"/>
                <a:sym typeface="Play"/>
              </a:rPr>
            </a:br>
            <a:endParaRPr sz="1500">
              <a:latin typeface="Play"/>
              <a:ea typeface="Play"/>
              <a:cs typeface="Play"/>
              <a:sym typeface="Play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Play"/>
                <a:ea typeface="Play"/>
                <a:cs typeface="Play"/>
                <a:sym typeface="Play"/>
              </a:rPr>
              <a:t>Negative sentiment requires immediate action: prioritising investigation of the 26% of reliable negative reviews, particularly those linked to shipping delays and product specific issues, presents the strongest opportunity to improve customer satisfaction and Net Loyalty Score.</a:t>
            </a:r>
            <a:br>
              <a:rPr lang="en-GB" sz="1500">
                <a:latin typeface="Play"/>
                <a:ea typeface="Play"/>
                <a:cs typeface="Play"/>
                <a:sym typeface="Play"/>
              </a:rPr>
            </a:br>
            <a:endParaRPr sz="1500">
              <a:latin typeface="Play"/>
              <a:ea typeface="Play"/>
              <a:cs typeface="Play"/>
              <a:sym typeface="Play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Play"/>
                <a:ea typeface="Play"/>
                <a:cs typeface="Play"/>
                <a:sym typeface="Play"/>
              </a:rPr>
              <a:t>Sales performance is declining, with a 29% projected revenue drop, especially in the housewares, auto, and cool stuff categories, highlighting an urgent need for targeted category-level recovery strategies.</a:t>
            </a:r>
            <a:endParaRPr sz="1500">
              <a:latin typeface="Play"/>
              <a:ea typeface="Play"/>
              <a:cs typeface="Play"/>
              <a:sym typeface="Play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A64D7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1055</Words>
  <Application>Microsoft Office PowerPoint</Application>
  <PresentationFormat>Widescreen</PresentationFormat>
  <Paragraphs>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Play</vt:lpstr>
      <vt:lpstr>Arial</vt:lpstr>
      <vt:lpstr>Office Theme</vt:lpstr>
      <vt:lpstr>Olist Store: Customer Experience, Sales &amp; Delivery Performance Analysis</vt:lpstr>
      <vt:lpstr>Purpose of Olist Store Process</vt:lpstr>
      <vt:lpstr>PowerPoint Presentation</vt:lpstr>
      <vt:lpstr>Review Types</vt:lpstr>
      <vt:lpstr>PowerPoint Presentation</vt:lpstr>
      <vt:lpstr>PowerPoint Presentation</vt:lpstr>
      <vt:lpstr>Most Reviewed Products</vt:lpstr>
      <vt:lpstr>Sales Forecast &amp; Action Plan Predicting the Next Six Months of Sales</vt:lpstr>
      <vt:lpstr>Visuals from Report &amp; Key Results</vt:lpstr>
      <vt:lpstr>Strategic Action Plan</vt:lpstr>
      <vt:lpstr>PowerPoint Presentation</vt:lpstr>
      <vt:lpstr>In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 M</cp:lastModifiedBy>
  <cp:revision>1</cp:revision>
  <dcterms:modified xsi:type="dcterms:W3CDTF">2025-12-10T10:33:37Z</dcterms:modified>
</cp:coreProperties>
</file>